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 id="262"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0" d="100"/>
          <a:sy n="50" d="100"/>
        </p:scale>
        <p:origin x="-80" y="-10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705600" y="4206240"/>
            <a:ext cx="960120" cy="457200"/>
          </a:xfrm>
        </p:spPr>
        <p:txBody>
          <a:bodyPr/>
          <a:lstStyle/>
          <a:p>
            <a:fld id="{D284A01E-3073-4569-96F5-EC6CB9AB7726}" type="datetimeFigureOut">
              <a:rPr lang="en-IN" smtClean="0"/>
              <a:t>27-03-2026</a:t>
            </a:fld>
            <a:endParaRPr lang="en-IN"/>
          </a:p>
        </p:txBody>
      </p:sp>
      <p:sp>
        <p:nvSpPr>
          <p:cNvPr id="17" name="Footer Placeholder 16"/>
          <p:cNvSpPr>
            <a:spLocks noGrp="1"/>
          </p:cNvSpPr>
          <p:nvPr>
            <p:ph type="ftr" sz="quarter" idx="11"/>
          </p:nvPr>
        </p:nvSpPr>
        <p:spPr>
          <a:xfrm>
            <a:off x="5410200" y="4205288"/>
            <a:ext cx="1295400" cy="457200"/>
          </a:xfrm>
        </p:spPr>
        <p:txBody>
          <a:bodyPr/>
          <a:lstStyle/>
          <a:p>
            <a:endParaRPr lang="en-IN"/>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51A20463-E0D7-47A0-9348-466E07DC7562}"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284A01E-3073-4569-96F5-EC6CB9AB7726}"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A20463-E0D7-47A0-9348-466E07DC7562}"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D284A01E-3073-4569-96F5-EC6CB9AB7726}"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A20463-E0D7-47A0-9348-466E07DC7562}"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D284A01E-3073-4569-96F5-EC6CB9AB7726}" type="datetimeFigureOut">
              <a:rPr lang="en-IN" smtClean="0"/>
              <a:t>27-03-2026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A20463-E0D7-47A0-9348-466E07DC7562}"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Date Placeholder 25"/>
          <p:cNvSpPr>
            <a:spLocks noGrp="1"/>
          </p:cNvSpPr>
          <p:nvPr>
            <p:ph type="dt" sz="half" idx="10"/>
          </p:nvPr>
        </p:nvSpPr>
        <p:spPr/>
        <p:txBody>
          <a:bodyPr rtlCol="0"/>
          <a:lstStyle/>
          <a:p>
            <a:fld id="{D284A01E-3073-4569-96F5-EC6CB9AB7726}" type="datetimeFigureOut">
              <a:rPr lang="en-IN" smtClean="0"/>
              <a:t>27-03-2026</a:t>
            </a:fld>
            <a:endParaRPr lang="en-IN"/>
          </a:p>
        </p:txBody>
      </p:sp>
      <p:sp>
        <p:nvSpPr>
          <p:cNvPr id="27" name="Slide Number Placeholder 26"/>
          <p:cNvSpPr>
            <a:spLocks noGrp="1"/>
          </p:cNvSpPr>
          <p:nvPr>
            <p:ph type="sldNum" sz="quarter" idx="11"/>
          </p:nvPr>
        </p:nvSpPr>
        <p:spPr/>
        <p:txBody>
          <a:bodyPr rtlCol="0"/>
          <a:lstStyle/>
          <a:p>
            <a:fld id="{51A20463-E0D7-47A0-9348-466E07DC7562}" type="slidenum">
              <a:rPr lang="en-IN" smtClean="0"/>
              <a:t>‹#›</a:t>
            </a:fld>
            <a:endParaRPr lang="en-IN"/>
          </a:p>
        </p:txBody>
      </p:sp>
      <p:sp>
        <p:nvSpPr>
          <p:cNvPr id="28" name="Footer Placeholder 27"/>
          <p:cNvSpPr>
            <a:spLocks noGrp="1"/>
          </p:cNvSpPr>
          <p:nvPr>
            <p:ph type="ftr" sz="quarter" idx="12"/>
          </p:nvPr>
        </p:nvSpPr>
        <p:spPr/>
        <p:txBody>
          <a:bodyPr rtlCol="0"/>
          <a:lstStyle/>
          <a:p>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583680" y="612648"/>
            <a:ext cx="957264" cy="457200"/>
          </a:xfrm>
        </p:spPr>
        <p:txBody>
          <a:bodyPr/>
          <a:lstStyle/>
          <a:p>
            <a:fld id="{D284A01E-3073-4569-96F5-EC6CB9AB7726}" type="datetimeFigureOut">
              <a:rPr lang="en-IN" smtClean="0"/>
              <a:t>27-03-2026</a:t>
            </a:fld>
            <a:endParaRPr lang="en-IN"/>
          </a:p>
        </p:txBody>
      </p:sp>
      <p:sp>
        <p:nvSpPr>
          <p:cNvPr id="4" name="Footer Placeholder 3"/>
          <p:cNvSpPr>
            <a:spLocks noGrp="1"/>
          </p:cNvSpPr>
          <p:nvPr>
            <p:ph type="ftr" sz="quarter" idx="11"/>
          </p:nvPr>
        </p:nvSpPr>
        <p:spPr>
          <a:xfrm>
            <a:off x="5257800" y="612648"/>
            <a:ext cx="1325880" cy="457200"/>
          </a:xfrm>
        </p:spPr>
        <p:txBody>
          <a:bodyPr/>
          <a:lstStyle/>
          <a:p>
            <a:endParaRPr lang="en-IN"/>
          </a:p>
        </p:txBody>
      </p:sp>
      <p:sp>
        <p:nvSpPr>
          <p:cNvPr id="5" name="Slide Number Placeholder 4"/>
          <p:cNvSpPr>
            <a:spLocks noGrp="1"/>
          </p:cNvSpPr>
          <p:nvPr>
            <p:ph type="sldNum" sz="quarter" idx="12"/>
          </p:nvPr>
        </p:nvSpPr>
        <p:spPr>
          <a:xfrm>
            <a:off x="8174736" y="2272"/>
            <a:ext cx="762000" cy="365760"/>
          </a:xfrm>
        </p:spPr>
        <p:txBody>
          <a:bodyPr/>
          <a:lstStyle/>
          <a:p>
            <a:fld id="{51A20463-E0D7-47A0-9348-466E07DC7562}"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84A01E-3073-4569-96F5-EC6CB9AB7726}" type="datetimeFigureOut">
              <a:rPr lang="en-IN" smtClean="0"/>
              <a:t>27-03-2026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1A20463-E0D7-47A0-9348-466E07DC7562}"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D284A01E-3073-4569-96F5-EC6CB9AB7726}" type="datetimeFigureOut">
              <a:rPr lang="en-IN" smtClean="0"/>
              <a:t>27-03-2026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A20463-E0D7-47A0-9348-466E07DC7562}"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D284A01E-3073-4569-96F5-EC6CB9AB7726}" type="datetimeFigureOut">
              <a:rPr lang="en-IN" smtClean="0"/>
              <a:t>27-03-2026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A20463-E0D7-47A0-9348-466E07DC7562}"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284A01E-3073-4569-96F5-EC6CB9AB7726}"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A20463-E0D7-47A0-9348-466E07DC7562}"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284A01E-3073-4569-96F5-EC6CB9AB7726}" type="datetimeFigureOut">
              <a:rPr lang="en-IN" smtClean="0"/>
              <a:t>27-03-2026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A20463-E0D7-47A0-9348-466E07DC7562}"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D284A01E-3073-4569-96F5-EC6CB9AB7726}" type="datetimeFigureOut">
              <a:rPr lang="en-IN" smtClean="0"/>
              <a:t>27-03-2026</a:t>
            </a:fld>
            <a:endParaRPr lang="en-IN"/>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IN"/>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51A20463-E0D7-47A0-9348-466E07DC7562}"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7544" y="1700808"/>
            <a:ext cx="8458200" cy="1470025"/>
          </a:xfrm>
        </p:spPr>
        <p:txBody>
          <a:bodyPr/>
          <a:lstStyle/>
          <a:p>
            <a:r>
              <a:rPr lang="en-GB" dirty="0" smtClean="0"/>
              <a:t>OPEN ADDRESSING</a:t>
            </a:r>
            <a:endParaRPr lang="en-IN" dirty="0"/>
          </a:p>
        </p:txBody>
      </p:sp>
      <p:sp>
        <p:nvSpPr>
          <p:cNvPr id="3" name="Subtitle 2"/>
          <p:cNvSpPr>
            <a:spLocks noGrp="1"/>
          </p:cNvSpPr>
          <p:nvPr>
            <p:ph type="subTitle" idx="1"/>
          </p:nvPr>
        </p:nvSpPr>
        <p:spPr/>
        <p:txBody>
          <a:bodyPr/>
          <a:lstStyle/>
          <a:p>
            <a:r>
              <a:rPr lang="en-GB" dirty="0" smtClean="0"/>
              <a:t>25P61A05w6</a:t>
            </a:r>
            <a:endParaRPr lang="en-IN" dirty="0"/>
          </a:p>
        </p:txBody>
      </p:sp>
    </p:spTree>
    <p:extLst>
      <p:ext uri="{BB962C8B-B14F-4D97-AF65-F5344CB8AC3E}">
        <p14:creationId xmlns:p14="http://schemas.microsoft.com/office/powerpoint/2010/main" val="24441786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DEFINATION</a:t>
            </a:r>
            <a:endParaRPr lang="en-IN" dirty="0"/>
          </a:p>
        </p:txBody>
      </p:sp>
      <p:sp>
        <p:nvSpPr>
          <p:cNvPr id="3" name="Content Placeholder 2"/>
          <p:cNvSpPr>
            <a:spLocks noGrp="1"/>
          </p:cNvSpPr>
          <p:nvPr>
            <p:ph idx="1"/>
          </p:nvPr>
        </p:nvSpPr>
        <p:spPr/>
        <p:txBody>
          <a:bodyPr>
            <a:normAutofit fontScale="70000" lnSpcReduction="20000"/>
          </a:bodyPr>
          <a:lstStyle/>
          <a:p>
            <a:r>
              <a:rPr lang="en-GB" b="1" dirty="0"/>
              <a:t>Open Addressing </a:t>
            </a:r>
            <a:r>
              <a:rPr lang="en-GB" dirty="0"/>
              <a:t>is a method for handling collisions. In Open Addressing, all elements are stored in the </a:t>
            </a:r>
            <a:r>
              <a:rPr lang="en-GB" b="1" dirty="0"/>
              <a:t>hash table</a:t>
            </a:r>
            <a:r>
              <a:rPr lang="en-GB" dirty="0"/>
              <a:t> itself. So at any point, the size of the table must be greater than or equal to the total number of keys (Note that we can increase table size by copying old data if needed). This approach is also known as closed hashing. This entire procedure is based upon probing. We will understand the types of probing ahead</a:t>
            </a:r>
            <a:r>
              <a:rPr lang="en-GB" dirty="0" smtClean="0"/>
              <a:t>:</a:t>
            </a:r>
          </a:p>
          <a:p>
            <a:pPr fontAlgn="base"/>
            <a:r>
              <a:rPr lang="en-GB" b="1" i="1" dirty="0" smtClean="0"/>
              <a:t>Insert(k</a:t>
            </a:r>
            <a:r>
              <a:rPr lang="en-GB" b="1" i="1" dirty="0"/>
              <a:t>): </a:t>
            </a:r>
            <a:r>
              <a:rPr lang="en-GB" i="1" dirty="0"/>
              <a:t>Keep probing until an empty slot is found. Once an empty slot is found, insert k. </a:t>
            </a:r>
          </a:p>
          <a:p>
            <a:pPr fontAlgn="base"/>
            <a:r>
              <a:rPr lang="en-GB" b="1" i="1" dirty="0"/>
              <a:t>Search(k):</a:t>
            </a:r>
            <a:r>
              <a:rPr lang="en-GB" i="1" dirty="0"/>
              <a:t> Keep probing until the slot's key doesn't become equal to k or an empty slot is reached. </a:t>
            </a:r>
          </a:p>
          <a:p>
            <a:pPr fontAlgn="base"/>
            <a:r>
              <a:rPr lang="en-GB" b="1" i="1" dirty="0"/>
              <a:t>Delete(k)</a:t>
            </a:r>
            <a:r>
              <a:rPr lang="en-GB" i="1" dirty="0"/>
              <a:t>: </a:t>
            </a:r>
            <a:r>
              <a:rPr lang="en-GB" b="1" i="1" dirty="0"/>
              <a:t>Delete operation is interesting</a:t>
            </a:r>
            <a:r>
              <a:rPr lang="en-GB" i="1" dirty="0"/>
              <a:t>. If we simply delete a key, then the search may fail. So slots of deleted keys are marked specially as "deleted". </a:t>
            </a:r>
            <a:br>
              <a:rPr lang="en-GB" i="1" dirty="0"/>
            </a:br>
            <a:r>
              <a:rPr lang="en-GB" i="1" dirty="0"/>
              <a:t>The insert can insert an item in a deleted slot, but the search doesn't stop at a deleted slot. </a:t>
            </a:r>
          </a:p>
          <a:p>
            <a:endParaRPr lang="en-IN" dirty="0"/>
          </a:p>
        </p:txBody>
      </p:sp>
    </p:spTree>
    <p:extLst>
      <p:ext uri="{BB962C8B-B14F-4D97-AF65-F5344CB8AC3E}">
        <p14:creationId xmlns:p14="http://schemas.microsoft.com/office/powerpoint/2010/main" val="35483155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smtClean="0"/>
              <a:t>Operations in open Addressing</a:t>
            </a:r>
            <a:endParaRPr lang="en-IN" dirty="0"/>
          </a:p>
        </p:txBody>
      </p:sp>
      <p:sp>
        <p:nvSpPr>
          <p:cNvPr id="3" name="Content Placeholder 2"/>
          <p:cNvSpPr>
            <a:spLocks noGrp="1"/>
          </p:cNvSpPr>
          <p:nvPr>
            <p:ph idx="1"/>
          </p:nvPr>
        </p:nvSpPr>
        <p:spPr/>
        <p:txBody>
          <a:bodyPr>
            <a:normAutofit fontScale="92500" lnSpcReduction="20000"/>
          </a:bodyPr>
          <a:lstStyle/>
          <a:p>
            <a:r>
              <a:rPr lang="en-GB" sz="3300" b="1" dirty="0" smtClean="0"/>
              <a:t>INSERT OPERATION</a:t>
            </a:r>
            <a:r>
              <a:rPr lang="en-GB" sz="2400" dirty="0" smtClean="0"/>
              <a:t>:</a:t>
            </a:r>
          </a:p>
          <a:p>
            <a:r>
              <a:rPr lang="en-GB" sz="1600" b="1" dirty="0" smtClean="0"/>
              <a:t>Steps to Insert a Number</a:t>
            </a:r>
          </a:p>
          <a:p>
            <a:r>
              <a:rPr lang="en-GB" sz="1600" b="1" dirty="0" smtClean="0"/>
              <a:t>Step 1:</a:t>
            </a:r>
            <a:r>
              <a:rPr lang="en-GB" sz="1600" dirty="0" smtClean="0"/>
              <a:t> Find the position using a formula</a:t>
            </a:r>
            <a:br>
              <a:rPr lang="en-GB" sz="1600" dirty="0" smtClean="0"/>
            </a:br>
            <a:r>
              <a:rPr lang="en-GB" sz="1600" dirty="0" smtClean="0"/>
              <a:t>(Example: number % table size) </a:t>
            </a:r>
          </a:p>
          <a:p>
            <a:r>
              <a:rPr lang="en-GB" sz="1600" b="1" dirty="0" smtClean="0"/>
              <a:t>Step 2:</a:t>
            </a:r>
            <a:r>
              <a:rPr lang="en-GB" sz="1600" dirty="0" smtClean="0"/>
              <a:t> Check that position </a:t>
            </a:r>
          </a:p>
          <a:p>
            <a:pPr marL="457200" lvl="1" indent="0">
              <a:buNone/>
            </a:pPr>
            <a:r>
              <a:rPr lang="en-GB" sz="1600" dirty="0" smtClean="0"/>
              <a:t>-&gt; If the box is </a:t>
            </a:r>
            <a:r>
              <a:rPr lang="en-GB" sz="1600" b="1" dirty="0" smtClean="0"/>
              <a:t>empty</a:t>
            </a:r>
            <a:r>
              <a:rPr lang="en-GB" sz="1600" dirty="0" smtClean="0"/>
              <a:t>, put the number there ✅ </a:t>
            </a:r>
          </a:p>
          <a:p>
            <a:pPr marL="457200" lvl="1" indent="0">
              <a:buNone/>
            </a:pPr>
            <a:r>
              <a:rPr lang="en-GB" sz="1600" dirty="0" smtClean="0"/>
              <a:t>-&gt;If the box is </a:t>
            </a:r>
            <a:r>
              <a:rPr lang="en-GB" sz="1600" b="1" dirty="0" smtClean="0"/>
              <a:t>already filled</a:t>
            </a:r>
            <a:r>
              <a:rPr lang="en-GB" sz="1600" dirty="0" smtClean="0"/>
              <a:t>, go to next step ❌ </a:t>
            </a:r>
          </a:p>
          <a:p>
            <a:r>
              <a:rPr lang="en-GB" sz="1600" b="1" dirty="0" smtClean="0"/>
              <a:t>Step 3:</a:t>
            </a:r>
            <a:r>
              <a:rPr lang="en-GB" sz="1600" dirty="0" smtClean="0"/>
              <a:t> Move to the next box </a:t>
            </a:r>
          </a:p>
          <a:p>
            <a:pPr marL="457200" lvl="1" indent="0">
              <a:buNone/>
            </a:pPr>
            <a:r>
              <a:rPr lang="en-GB" sz="1600" dirty="0" smtClean="0"/>
              <a:t>-&gt; Check the next box (one by one) until you find an empty box </a:t>
            </a:r>
          </a:p>
          <a:p>
            <a:r>
              <a:rPr lang="en-GB" sz="1600" dirty="0" smtClean="0"/>
              <a:t> </a:t>
            </a:r>
            <a:r>
              <a:rPr lang="en-GB" sz="1600" b="1" dirty="0" smtClean="0"/>
              <a:t>Step 4:</a:t>
            </a:r>
            <a:r>
              <a:rPr lang="en-GB" sz="1600" dirty="0" smtClean="0"/>
              <a:t> Place the number </a:t>
            </a:r>
          </a:p>
          <a:p>
            <a:pPr marL="457200" lvl="1" indent="0">
              <a:buNone/>
            </a:pPr>
            <a:r>
              <a:rPr lang="en-GB" sz="1600" dirty="0" smtClean="0"/>
              <a:t>-&gt; Put the number in the first empty box you find</a:t>
            </a:r>
          </a:p>
          <a:p>
            <a:r>
              <a:rPr lang="en-GB" sz="1900" b="1" dirty="0" smtClean="0"/>
              <a:t>Simple Example</a:t>
            </a:r>
          </a:p>
          <a:p>
            <a:r>
              <a:rPr lang="en-GB" sz="1900" dirty="0" smtClean="0"/>
              <a:t>Table size = 7 </a:t>
            </a:r>
          </a:p>
          <a:p>
            <a:r>
              <a:rPr lang="en-GB" sz="1900" dirty="0" smtClean="0"/>
              <a:t>Insert numbers: 10, 17 </a:t>
            </a:r>
          </a:p>
          <a:p>
            <a:r>
              <a:rPr lang="en-GB" sz="1900" dirty="0" smtClean="0"/>
              <a:t>10 → goes to position 3 → empty → put it there </a:t>
            </a:r>
          </a:p>
          <a:p>
            <a:r>
              <a:rPr lang="en-GB" sz="1900" dirty="0" smtClean="0"/>
              <a:t>17 → also wants position 3 → already filled → move to position 4 → put it there</a:t>
            </a:r>
          </a:p>
          <a:p>
            <a:endParaRPr lang="en-IN" sz="1900" dirty="0"/>
          </a:p>
        </p:txBody>
      </p:sp>
    </p:spTree>
    <p:extLst>
      <p:ext uri="{BB962C8B-B14F-4D97-AF65-F5344CB8AC3E}">
        <p14:creationId xmlns:p14="http://schemas.microsoft.com/office/powerpoint/2010/main" val="8770123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normAutofit fontScale="62500" lnSpcReduction="20000"/>
          </a:bodyPr>
          <a:lstStyle/>
          <a:p>
            <a:r>
              <a:rPr lang="en-GB" sz="5100" b="1" dirty="0" smtClean="0"/>
              <a:t>SEARCH OPERATION</a:t>
            </a:r>
            <a:r>
              <a:rPr lang="en-GB" b="1" dirty="0"/>
              <a:t>:</a:t>
            </a:r>
            <a:endParaRPr lang="en-GB" b="1" dirty="0" smtClean="0"/>
          </a:p>
          <a:p>
            <a:r>
              <a:rPr lang="en-GB" b="1" dirty="0" smtClean="0"/>
              <a:t>Find the locker number</a:t>
            </a:r>
            <a:r>
              <a:rPr lang="en-GB" dirty="0" smtClean="0"/>
              <a:t/>
            </a:r>
            <a:br>
              <a:rPr lang="en-GB" dirty="0" smtClean="0"/>
            </a:br>
            <a:r>
              <a:rPr lang="en-GB" dirty="0" smtClean="0"/>
              <a:t>Use a formula (called a hash function) to get a locker number for your item. </a:t>
            </a:r>
            <a:r>
              <a:rPr lang="en-GB" b="1" dirty="0" smtClean="0"/>
              <a:t>Check that locker</a:t>
            </a:r>
            <a:r>
              <a:rPr lang="en-GB" dirty="0" smtClean="0"/>
              <a:t> If your item is there →  Found it! </a:t>
            </a:r>
          </a:p>
          <a:p>
            <a:r>
              <a:rPr lang="en-GB" dirty="0" smtClean="0"/>
              <a:t>If it is empty → ❌ Item is not in the table </a:t>
            </a:r>
          </a:p>
          <a:p>
            <a:r>
              <a:rPr lang="en-GB" dirty="0" smtClean="0"/>
              <a:t>If another item is there → move to next step </a:t>
            </a:r>
          </a:p>
          <a:p>
            <a:r>
              <a:rPr lang="en-GB" b="1" dirty="0" smtClean="0"/>
              <a:t>Try the next locker</a:t>
            </a:r>
            <a:r>
              <a:rPr lang="en-GB" dirty="0" smtClean="0"/>
              <a:t/>
            </a:r>
            <a:br>
              <a:rPr lang="en-GB" dirty="0" smtClean="0"/>
            </a:br>
            <a:r>
              <a:rPr lang="en-GB" dirty="0" smtClean="0"/>
              <a:t>Move to the next position (this is called </a:t>
            </a:r>
            <a:r>
              <a:rPr lang="en-GB" b="1" dirty="0" smtClean="0"/>
              <a:t>probing</a:t>
            </a:r>
            <a:r>
              <a:rPr lang="en-GB" dirty="0" smtClean="0"/>
              <a:t>) </a:t>
            </a:r>
            <a:r>
              <a:rPr lang="en-GB" b="1" dirty="0" smtClean="0"/>
              <a:t>Repeat checking</a:t>
            </a:r>
            <a:r>
              <a:rPr lang="en-GB" dirty="0" smtClean="0"/>
              <a:t/>
            </a:r>
            <a:br>
              <a:rPr lang="en-GB" dirty="0" smtClean="0"/>
            </a:br>
            <a:r>
              <a:rPr lang="en-GB" dirty="0" smtClean="0"/>
              <a:t>Keep moving to the next lockers until: You find your item ✅ </a:t>
            </a:r>
          </a:p>
          <a:p>
            <a:r>
              <a:rPr lang="en-GB" dirty="0" smtClean="0"/>
              <a:t>Or reach an empty locker</a:t>
            </a:r>
          </a:p>
          <a:p>
            <a:r>
              <a:rPr lang="en-GB" b="1" dirty="0"/>
              <a:t>S</a:t>
            </a:r>
            <a:r>
              <a:rPr lang="en-GB" b="1" dirty="0" smtClean="0"/>
              <a:t>uppose we are searching for number 25</a:t>
            </a:r>
            <a:r>
              <a:rPr lang="en-GB" dirty="0" smtClean="0"/>
              <a:t>:</a:t>
            </a:r>
          </a:p>
          <a:p>
            <a:r>
              <a:rPr lang="en-GB" dirty="0" smtClean="0"/>
              <a:t>Step 1: Hash gives index </a:t>
            </a:r>
            <a:r>
              <a:rPr lang="en-GB" b="1" dirty="0" smtClean="0"/>
              <a:t>5</a:t>
            </a:r>
            <a:r>
              <a:rPr lang="en-GB" dirty="0" smtClean="0"/>
              <a:t> </a:t>
            </a:r>
          </a:p>
          <a:p>
            <a:r>
              <a:rPr lang="en-GB" dirty="0" smtClean="0"/>
              <a:t>Step 2: Check index 5 → Not 25 </a:t>
            </a:r>
          </a:p>
          <a:p>
            <a:r>
              <a:rPr lang="en-GB" dirty="0" smtClean="0"/>
              <a:t>Step 3: Move to index 6 → Not 25 </a:t>
            </a:r>
          </a:p>
          <a:p>
            <a:r>
              <a:rPr lang="en-GB" dirty="0" smtClean="0"/>
              <a:t>Step 4: Move to index 7 → Found 25</a:t>
            </a:r>
          </a:p>
          <a:p>
            <a:endParaRPr lang="en-GB" dirty="0" smtClean="0"/>
          </a:p>
          <a:p>
            <a:endParaRPr lang="en-GB" dirty="0"/>
          </a:p>
        </p:txBody>
      </p:sp>
    </p:spTree>
    <p:extLst>
      <p:ext uri="{BB962C8B-B14F-4D97-AF65-F5344CB8AC3E}">
        <p14:creationId xmlns:p14="http://schemas.microsoft.com/office/powerpoint/2010/main" val="24593866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GB" b="1" dirty="0" smtClean="0"/>
              <a:t>DELETE OPERATION:</a:t>
            </a:r>
          </a:p>
          <a:p>
            <a:r>
              <a:rPr lang="en-GB" dirty="0" smtClean="0"/>
              <a:t>The key is first searching and then deleted.</a:t>
            </a:r>
          </a:p>
          <a:p>
            <a:r>
              <a:rPr lang="en-GB" dirty="0" smtClean="0"/>
              <a:t>After deleting the key, that particular bucket is marked as “delete”</a:t>
            </a:r>
            <a:endParaRPr lang="en-IN" dirty="0"/>
          </a:p>
        </p:txBody>
      </p:sp>
    </p:spTree>
    <p:extLst>
      <p:ext uri="{BB962C8B-B14F-4D97-AF65-F5344CB8AC3E}">
        <p14:creationId xmlns:p14="http://schemas.microsoft.com/office/powerpoint/2010/main" val="145698857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GB" b="1" dirty="0" smtClean="0"/>
              <a:t>LINEAR PROBING:</a:t>
            </a:r>
          </a:p>
          <a:p>
            <a:r>
              <a:rPr lang="en-GB" sz="2300" dirty="0" smtClean="0"/>
              <a:t>In linear probing,</a:t>
            </a:r>
          </a:p>
          <a:p>
            <a:r>
              <a:rPr lang="en-GB" sz="2300" dirty="0" smtClean="0"/>
              <a:t>When collision occurs, we linearly probe for the next bucket.</a:t>
            </a:r>
          </a:p>
          <a:p>
            <a:r>
              <a:rPr lang="en-GB" sz="2300" dirty="0" smtClean="0"/>
              <a:t>We keep probing until an empty bucket is found.</a:t>
            </a:r>
          </a:p>
          <a:p>
            <a:r>
              <a:rPr lang="en-GB" sz="2300" b="1" dirty="0" smtClean="0"/>
              <a:t>ADVANTAGES</a:t>
            </a:r>
          </a:p>
          <a:p>
            <a:r>
              <a:rPr lang="en-GB" sz="2300" dirty="0" smtClean="0"/>
              <a:t>It is easy to compute.</a:t>
            </a:r>
          </a:p>
          <a:p>
            <a:r>
              <a:rPr lang="en-GB" sz="2300" b="1" dirty="0" smtClean="0"/>
              <a:t>DISADVANTAGES</a:t>
            </a:r>
          </a:p>
          <a:p>
            <a:r>
              <a:rPr lang="en-GB" sz="2300" dirty="0" smtClean="0"/>
              <a:t>The main problem with linear probing is clustering where many consecutive elements form groups.</a:t>
            </a:r>
          </a:p>
          <a:p>
            <a:r>
              <a:rPr lang="en-GB" sz="2300" dirty="0" smtClean="0"/>
              <a:t>Then, it takes time to search an element or to find an empty bucket.</a:t>
            </a:r>
            <a:endParaRPr lang="en-IN" sz="2300" dirty="0"/>
          </a:p>
        </p:txBody>
      </p:sp>
    </p:spTree>
    <p:extLst>
      <p:ext uri="{BB962C8B-B14F-4D97-AF65-F5344CB8AC3E}">
        <p14:creationId xmlns:p14="http://schemas.microsoft.com/office/powerpoint/2010/main" val="7613806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ln>
            <a:solidFill>
              <a:schemeClr val="accent1"/>
            </a:solidFill>
          </a:ln>
        </p:spPr>
        <p:txBody>
          <a:bodyPr/>
          <a:lstStyle/>
          <a:p>
            <a:r>
              <a:rPr lang="en-GB" b="1" dirty="0" smtClean="0"/>
              <a:t>QUADRATIC PROBING</a:t>
            </a:r>
          </a:p>
          <a:p>
            <a:r>
              <a:rPr lang="en-GB" dirty="0" smtClean="0"/>
              <a:t>In quadratic probing,</a:t>
            </a:r>
          </a:p>
          <a:p>
            <a:r>
              <a:rPr lang="en-GB" dirty="0" smtClean="0"/>
              <a:t>When collision </a:t>
            </a:r>
            <a:r>
              <a:rPr lang="en-GB" dirty="0" err="1" smtClean="0"/>
              <a:t>occurs,we</a:t>
            </a:r>
            <a:r>
              <a:rPr lang="en-GB" dirty="0" smtClean="0"/>
              <a:t> probe for </a:t>
            </a:r>
            <a:r>
              <a:rPr lang="en-GB" sz="2400" dirty="0" smtClean="0"/>
              <a:t>i2th</a:t>
            </a:r>
            <a:r>
              <a:rPr lang="en-GB" dirty="0" smtClean="0"/>
              <a:t> buckets in </a:t>
            </a:r>
            <a:r>
              <a:rPr lang="en-GB" sz="2400" dirty="0" err="1" smtClean="0"/>
              <a:t>ith</a:t>
            </a:r>
            <a:r>
              <a:rPr lang="en-GB" dirty="0" smtClean="0"/>
              <a:t> iteration.</a:t>
            </a:r>
          </a:p>
          <a:p>
            <a:r>
              <a:rPr lang="en-GB" dirty="0" smtClean="0"/>
              <a:t>We keep probing until an empty bucket is found.</a:t>
            </a:r>
            <a:endParaRPr lang="en-IN" dirty="0"/>
          </a:p>
        </p:txBody>
      </p:sp>
    </p:spTree>
    <p:extLst>
      <p:ext uri="{BB962C8B-B14F-4D97-AF65-F5344CB8AC3E}">
        <p14:creationId xmlns:p14="http://schemas.microsoft.com/office/powerpoint/2010/main" val="402972652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74</TotalTime>
  <Words>155</Words>
  <Application>Microsoft Office PowerPoint</Application>
  <PresentationFormat>On-screen Show (4:3)</PresentationFormat>
  <Paragraphs>50</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Urban</vt:lpstr>
      <vt:lpstr>OPEN ADDRESSING</vt:lpstr>
      <vt:lpstr>DEFINATION</vt:lpstr>
      <vt:lpstr>Operations in open Addressing</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 ADDRESSING</dc:title>
  <dc:creator>user</dc:creator>
  <cp:lastModifiedBy>user</cp:lastModifiedBy>
  <cp:revision>8</cp:revision>
  <dcterms:created xsi:type="dcterms:W3CDTF">2026-03-27T09:58:56Z</dcterms:created>
  <dcterms:modified xsi:type="dcterms:W3CDTF">2026-03-27T11:13:27Z</dcterms:modified>
</cp:coreProperties>
</file>